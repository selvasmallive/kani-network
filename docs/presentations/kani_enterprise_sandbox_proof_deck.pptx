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ae456b73fc4a8e" /><Relationship Type="http://schemas.openxmlformats.org/officeDocument/2006/relationships/extended-properties" Target="/docProps/app.xml" Id="R7116d7feffb14932" /><Relationship Type="http://schemas.openxmlformats.org/officeDocument/2006/relationships/officeDocument" Target="/ppt/presentation.xml" Id="R7469425b9e7641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4ab00135444032"/>
  </p:sldMasterIdLst>
  <p:notesMasterIdLst>
    <p:notesMasterId xmlns:r="http://schemas.openxmlformats.org/officeDocument/2006/relationships" r:id="R9f97039774a54b8b"/>
  </p:notesMasterIdLst>
  <p:sldIdLst>
    <p:sldId xmlns:r="http://schemas.openxmlformats.org/officeDocument/2006/relationships" id="256" r:id="R76079dbb6ffb4a9d"/>
    <p:sldId xmlns:r="http://schemas.openxmlformats.org/officeDocument/2006/relationships" id="257" r:id="Rb0ee1cfcfcb34ea2"/>
    <p:sldId xmlns:r="http://schemas.openxmlformats.org/officeDocument/2006/relationships" id="258" r:id="Rc4e85a7af46347df"/>
    <p:sldId xmlns:r="http://schemas.openxmlformats.org/officeDocument/2006/relationships" id="259" r:id="Rb369db80568d428b"/>
    <p:sldId xmlns:r="http://schemas.openxmlformats.org/officeDocument/2006/relationships" id="260" r:id="Rd788b58ee337467b"/>
    <p:sldId xmlns:r="http://schemas.openxmlformats.org/officeDocument/2006/relationships" id="261" r:id="R7f50606d91b54e2e"/>
    <p:sldId xmlns:r="http://schemas.openxmlformats.org/officeDocument/2006/relationships" id="262" r:id="Rdca75a6edf734eba"/>
    <p:sldId xmlns:r="http://schemas.openxmlformats.org/officeDocument/2006/relationships" id="263" r:id="Re3a87a1b301a4765"/>
    <p:sldId xmlns:r="http://schemas.openxmlformats.org/officeDocument/2006/relationships" id="264" r:id="R5025bedad2604347"/>
    <p:sldId xmlns:r="http://schemas.openxmlformats.org/officeDocument/2006/relationships" id="265" r:id="Ra3050842da3e42d4"/>
    <p:sldId xmlns:r="http://schemas.openxmlformats.org/officeDocument/2006/relationships" id="266" r:id="Rf55801ba7b2e45ed"/>
    <p:sldId xmlns:r="http://schemas.openxmlformats.org/officeDocument/2006/relationships" id="267" r:id="R5771e1eab3ff494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ab00135444032" /><Relationship Type="http://schemas.openxmlformats.org/officeDocument/2006/relationships/theme" Target="/ppt/theme/theme1.xml" Id="R26de91cd37d9445b" /><Relationship Type="http://schemas.openxmlformats.org/officeDocument/2006/relationships/notesMaster" Target="/ppt/notesMasters/notesMaster1.xml" Id="R9f97039774a54b8b" /><Relationship Type="http://schemas.openxmlformats.org/officeDocument/2006/relationships/presProps" Target="/ppt/presProps.xml" Id="R8a9d4fe003464cd3" /><Relationship Type="http://schemas.openxmlformats.org/officeDocument/2006/relationships/viewProps" Target="/ppt/viewProps.xml" Id="Rf650b576a0ea43ea" /><Relationship Type="http://schemas.openxmlformats.org/officeDocument/2006/relationships/tableStyles" Target="/ppt/tableStyles.xml" Id="R7b427032b4fd4d43" /><Relationship Type="http://schemas.openxmlformats.org/officeDocument/2006/relationships/slide" Target="/ppt/slides/slide1.xml" Id="R76079dbb6ffb4a9d" /><Relationship Type="http://schemas.openxmlformats.org/officeDocument/2006/relationships/slide" Target="/ppt/slides/slide2.xml" Id="Rb0ee1cfcfcb34ea2" /><Relationship Type="http://schemas.openxmlformats.org/officeDocument/2006/relationships/slide" Target="/ppt/slides/slide3.xml" Id="Rc4e85a7af46347df" /><Relationship Type="http://schemas.openxmlformats.org/officeDocument/2006/relationships/slide" Target="/ppt/slides/slide4.xml" Id="Rb369db80568d428b" /><Relationship Type="http://schemas.openxmlformats.org/officeDocument/2006/relationships/slide" Target="/ppt/slides/slide5.xml" Id="Rd788b58ee337467b" /><Relationship Type="http://schemas.openxmlformats.org/officeDocument/2006/relationships/slide" Target="/ppt/slides/slide6.xml" Id="R7f50606d91b54e2e" /><Relationship Type="http://schemas.openxmlformats.org/officeDocument/2006/relationships/slide" Target="/ppt/slides/slide7.xml" Id="Rdca75a6edf734eba" /><Relationship Type="http://schemas.openxmlformats.org/officeDocument/2006/relationships/slide" Target="/ppt/slides/slide8.xml" Id="Re3a87a1b301a4765" /><Relationship Type="http://schemas.openxmlformats.org/officeDocument/2006/relationships/slide" Target="/ppt/slides/slide9.xml" Id="R5025bedad2604347" /><Relationship Type="http://schemas.openxmlformats.org/officeDocument/2006/relationships/slide" Target="/ppt/slides/slide10.xml" Id="Ra3050842da3e42d4" /><Relationship Type="http://schemas.openxmlformats.org/officeDocument/2006/relationships/slide" Target="/ppt/slides/slide11.xml" Id="Rf55801ba7b2e45ed" /><Relationship Type="http://schemas.openxmlformats.org/officeDocument/2006/relationships/slide" Target="/ppt/slides/slide12.xml" Id="R5771e1eab3ff49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9b5ccbcd4754e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985d19285d4c57" /><Relationship Type="http://schemas.openxmlformats.org/officeDocument/2006/relationships/notesMaster" Target="/ppt/notesMasters/notesMaster1.xml" Id="R6efabd09f13040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0c713e93d74afc" /><Relationship Type="http://schemas.openxmlformats.org/officeDocument/2006/relationships/notesMaster" Target="/ppt/notesMasters/notesMaster1.xml" Id="R948ed899ca794d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7d8ad8b2544a4e" /><Relationship Type="http://schemas.openxmlformats.org/officeDocument/2006/relationships/notesMaster" Target="/ppt/notesMasters/notesMaster1.xml" Id="R7212a3bbe2404b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7def24ef9b4a53" /><Relationship Type="http://schemas.openxmlformats.org/officeDocument/2006/relationships/notesMaster" Target="/ppt/notesMasters/notesMaster1.xml" Id="R2b16a7bfdf494a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b2eb876a514187" /><Relationship Type="http://schemas.openxmlformats.org/officeDocument/2006/relationships/notesMaster" Target="/ppt/notesMasters/notesMaster1.xml" Id="Ra8a35035a9ca47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cc10974e3542b4" /><Relationship Type="http://schemas.openxmlformats.org/officeDocument/2006/relationships/notesMaster" Target="/ppt/notesMasters/notesMaster1.xml" Id="R879a9b760fed4f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e245a609364ba2" /><Relationship Type="http://schemas.openxmlformats.org/officeDocument/2006/relationships/notesMaster" Target="/ppt/notesMasters/notesMaster1.xml" Id="R00bc7175bac044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07e9201c224094" /><Relationship Type="http://schemas.openxmlformats.org/officeDocument/2006/relationships/notesMaster" Target="/ppt/notesMasters/notesMaster1.xml" Id="Rf62cceb7a7ff47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58f47c64564e5e" /><Relationship Type="http://schemas.openxmlformats.org/officeDocument/2006/relationships/notesMaster" Target="/ppt/notesMasters/notesMaster1.xml" Id="R74eda880313c44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0e5c94bcda4cfa" /><Relationship Type="http://schemas.openxmlformats.org/officeDocument/2006/relationships/notesMaster" Target="/ppt/notesMasters/notesMaster1.xml" Id="Ra3d18e151f724f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a8a5cfc3f24784" /><Relationship Type="http://schemas.openxmlformats.org/officeDocument/2006/relationships/notesMaster" Target="/ppt/notesMasters/notesMaster1.xml" Id="Ref45cc5462e042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e60cde7635459b" /><Relationship Type="http://schemas.openxmlformats.org/officeDocument/2006/relationships/notesMaster" Target="/ppt/notesMasters/notesMaster1.xml" Id="R7d9a48e24cce40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21e98dfa3463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30c983f1981426e" /><Relationship Type="http://schemas.openxmlformats.org/officeDocument/2006/relationships/slideLayout" Target="/ppt/slideLayouts/slideLayout2.xml" Id="Rcfede0d30e274b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ede0d30e274b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9ddcb3f47b4037" /><Relationship Type="http://schemas.openxmlformats.org/officeDocument/2006/relationships/notesSlide" Target="/ppt/notesSlides/notesSlide1.xml" Id="Rbdb70f0dd14c43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bbe14795024cd6" /><Relationship Type="http://schemas.openxmlformats.org/officeDocument/2006/relationships/notesSlide" Target="/ppt/notesSlides/notesSlide2.xml" Id="R5b5e294dac894e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d0a005b455463b" /><Relationship Type="http://schemas.openxmlformats.org/officeDocument/2006/relationships/notesSlide" Target="/ppt/notesSlides/notesSlide3.xml" Id="Rc17471b3394b46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0da827cd2c40d3" /><Relationship Type="http://schemas.openxmlformats.org/officeDocument/2006/relationships/notesSlide" Target="/ppt/notesSlides/notesSlide4.xml" Id="Reeb730a1484844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c473ddf6cb484a" /><Relationship Type="http://schemas.openxmlformats.org/officeDocument/2006/relationships/notesSlide" Target="/ppt/notesSlides/notesSlide5.xml" Id="Refeea82f8f9f49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cd91aa7b674d94" /><Relationship Type="http://schemas.openxmlformats.org/officeDocument/2006/relationships/notesSlide" Target="/ppt/notesSlides/notesSlide6.xml" Id="R6f3ca9b96e8447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15e86d1ea946b7" /><Relationship Type="http://schemas.openxmlformats.org/officeDocument/2006/relationships/notesSlide" Target="/ppt/notesSlides/notesSlide7.xml" Id="R43e47b40796a47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2f5e71a52b4cc4" /><Relationship Type="http://schemas.openxmlformats.org/officeDocument/2006/relationships/notesSlide" Target="/ppt/notesSlides/notesSlide8.xml" Id="Reba43b1a4e4049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6b5783df4f478b" /><Relationship Type="http://schemas.openxmlformats.org/officeDocument/2006/relationships/notesSlide" Target="/ppt/notesSlides/notesSlide9.xml" Id="Rf91903d277b444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1ed4c46a1e4c89" /><Relationship Type="http://schemas.openxmlformats.org/officeDocument/2006/relationships/notesSlide" Target="/ppt/notesSlides/notesSlide10.xml" Id="Rb1f43b3599d441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b913f097bc461f" /><Relationship Type="http://schemas.openxmlformats.org/officeDocument/2006/relationships/notesSlide" Target="/ppt/notesSlides/notesSlide11.xml" Id="R91a354bb8a5240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3e94c885914ae9" /><Relationship Type="http://schemas.openxmlformats.org/officeDocument/2006/relationships/notesSlide" Target="/ppt/notesSlides/notesSlide12.xml" Id="Rf1589126f74f4e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176935-D567-4C93-899D-5594FF88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F6E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21C23-0104-4E4C-B333-9A4909D3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85800"/>
            <a:ext cx="1619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7E5D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7E5DC"/>
                </a:solidFill>
                <a:latin typeface="Aptos"/>
                <a:ea typeface="Aptos"/>
                <a:cs typeface="Aptos"/>
              </a:rPr>
              <a:t>KANI Private Settlement Network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3CE3AFC-FEFA-4C93-ACFA-40AFDC3B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85915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Sandbox proof for enterprise review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23D3FC7-1E43-4884-9A0A-0106BB20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7620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C8D9CF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C8D9CF"/>
                </a:solidFill>
                <a:latin typeface="Aptos"/>
                <a:ea typeface="Aptos"/>
                <a:cs typeface="Aptos"/>
              </a:rPr>
              <a:t>Implemented settlement lifecycle, live GKE validator evidence, and the controls still required before production.</a:t>
            </a:r>
          </a:p>
        </p:txBody>
      </p:sp>
      <p:sp>
        <p:nvSpPr>
          <p:cNvPr id="5" name="pill-sandbox-only">
            <a:extLst xmlns:a="http://schemas.openxmlformats.org/drawingml/2006/main">
              <a:ext uri="{FF2B5EF4-FFF2-40B4-BE49-F238E27FC236}">
                <a16:creationId xmlns:a16="http://schemas.microsoft.com/office/drawing/2014/main" id="{82409E8B-C25F-4CE6-A65D-B0A289A4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6505"/>
            <a:ext cx="1399413" cy="3467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2E9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1C786-9EE7-4371-B509-2EAA781C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40080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SANDBOX ONLY</a:t>
            </a:r>
          </a:p>
        </p:txBody>
      </p:sp>
      <p:sp>
        <p:nvSpPr>
          <p:cNvPr id="7" name="pill-real-value-false">
            <a:extLst xmlns:a="http://schemas.openxmlformats.org/drawingml/2006/main">
              <a:ext uri="{FF2B5EF4-FFF2-40B4-BE49-F238E27FC236}">
                <a16:creationId xmlns:a16="http://schemas.microsoft.com/office/drawing/2014/main" id="{20309311-D635-41FB-AAFE-3288981C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163" y="6326505"/>
            <a:ext cx="1572577" cy="5410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CE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2917D-B0DF-4D08-A5DB-648586D8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400800"/>
            <a:ext cx="1238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8A1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8A12"/>
                </a:solidFill>
                <a:latin typeface="Aptos"/>
                <a:ea typeface="Aptos"/>
                <a:cs typeface="Aptos"/>
              </a:rPr>
              <a:t>REAL VALUE FALSE</a:t>
            </a:r>
          </a:p>
        </p:txBody>
      </p:sp>
      <p:sp>
        <p:nvSpPr>
          <p:cNvPr id="9" name="pill-gke-pilot-running">
            <a:extLst xmlns:a="http://schemas.openxmlformats.org/drawingml/2006/main">
              <a:ext uri="{FF2B5EF4-FFF2-40B4-BE49-F238E27FC236}">
                <a16:creationId xmlns:a16="http://schemas.microsoft.com/office/drawing/2014/main" id="{016BE1DF-4AD5-4687-99E6-E65C9A40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090" y="6326505"/>
            <a:ext cx="1731073" cy="5410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8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6FFEA-CC22-4E13-8C86-EC96FFE2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400800"/>
            <a:ext cx="1390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GKE PILOT RUNNING</a:t>
            </a:r>
          </a:p>
        </p:txBody>
      </p:sp>
      <p:sp>
        <p:nvSpPr>
          <p:cNvPr id="11" name="cover-block-number">
            <a:extLst xmlns:a="http://schemas.openxmlformats.org/drawingml/2006/main">
              <a:ext uri="{FF2B5EF4-FFF2-40B4-BE49-F238E27FC236}">
                <a16:creationId xmlns:a16="http://schemas.microsoft.com/office/drawing/2014/main" id="{3EE9086B-80F5-4A95-9428-D36F5D39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14700"/>
            <a:ext cx="7334250" cy="205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0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13500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12" name="cover-block-label">
            <a:extLst xmlns:a="http://schemas.openxmlformats.org/drawingml/2006/main">
              <a:ext uri="{FF2B5EF4-FFF2-40B4-BE49-F238E27FC236}">
                <a16:creationId xmlns:a16="http://schemas.microsoft.com/office/drawing/2014/main" id="{00BC503B-433F-4D37-936C-B75A602C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543550"/>
            <a:ext cx="4933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7E5D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D7E5DC"/>
                </a:solidFill>
                <a:latin typeface="Aptos"/>
                <a:ea typeface="Aptos"/>
                <a:cs typeface="Aptos"/>
              </a:rPr>
              <a:t>latest finalized block in the day-zero cloud smoke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A9690-C06D-44E4-8DA6-5A0B1116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2674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12"/>
          </a:solidFill>
          <a:ln xmlns:a="http://schemas.openxmlformats.org/drawingml/2006/main" w="0">
            <a:solidFill>
              <a:srgbClr val="D98A12"/>
            </a:solidFill>
            <a:prstDash val="solid"/>
          </a:ln>
        </p:spPr>
      </p:sp>
      <p:sp>
        <p:nvSpPr>
          <p:cNvPr id="14" name="cover-proof-line">
            <a:extLst xmlns:a="http://schemas.openxmlformats.org/drawingml/2006/main">
              <a:ext uri="{FF2B5EF4-FFF2-40B4-BE49-F238E27FC236}">
                <a16:creationId xmlns:a16="http://schemas.microsoft.com/office/drawing/2014/main" id="{3936BF20-80EA-4FC8-BB38-80C7FF8D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477000"/>
            <a:ext cx="4991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7E5DC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D7E5DC"/>
                </a:solidFill>
                <a:latin typeface="Aptos"/>
                <a:ea typeface="Aptos"/>
                <a:cs typeface="Aptos"/>
              </a:rPr>
              <a:t>3 validators running / 0 restarts / 0 pending transactions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D1C11-E3AC-45FF-BB85-6FEE41C3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10700"/>
            <a:ext cx="8591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9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9AF"/>
                </a:solidFill>
                <a:latin typeface="Aptos"/>
                <a:ea typeface="Aptos"/>
                <a:cs typeface="Aptos"/>
              </a:rPr>
              <a:t>Research and evidence package - May 10, 2026</a:t>
            </a:r>
          </a:p>
        </p:txBody>
      </p:sp>
    </p:spTree>
    <p:extLst>
      <p:ext uri="{BB962C8B-B14F-4D97-AF65-F5344CB8AC3E}">
        <p14:creationId xmlns:p14="http://schemas.microsoft.com/office/powerpoint/2010/main" val="14858482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0402FB-B097-4EE3-91FD-6687592B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is enterprise-ready in this sandbox?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6AABD67-8382-4843-8F29-33084FF8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1209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sandbox MVP is implemented and observable. Enterprise readiness now means evidence depth, repeatable drills, control matrices, and signoffs while production value remains blocked.</a:t>
            </a:r>
          </a:p>
        </p:txBody>
      </p:sp>
      <p:sp>
        <p:nvSpPr>
          <p:cNvPr id="3" name="metric-end-to-end-sandbox-mvp">
            <a:extLst xmlns:a="http://schemas.openxmlformats.org/drawingml/2006/main">
              <a:ext uri="{FF2B5EF4-FFF2-40B4-BE49-F238E27FC236}">
                <a16:creationId xmlns:a16="http://schemas.microsoft.com/office/drawing/2014/main" id="{17FF98AD-2DCE-44BF-B600-D1160BAA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5334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4" name="metric-label-end-to-end-sandbox-mvp">
            <a:extLst xmlns:a="http://schemas.openxmlformats.org/drawingml/2006/main">
              <a:ext uri="{FF2B5EF4-FFF2-40B4-BE49-F238E27FC236}">
                <a16:creationId xmlns:a16="http://schemas.microsoft.com/office/drawing/2014/main" id="{90CFEB55-D01A-4187-B740-B77BB69C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B6472"/>
                </a:solidFill>
                <a:latin typeface="Aptos"/>
                <a:ea typeface="Aptos"/>
                <a:cs typeface="Aptos"/>
              </a:rPr>
              <a:t>end-to-end sandbox MVP</a:t>
            </a:r>
          </a:p>
        </p:txBody>
      </p:sp>
      <p:sp>
        <p:nvSpPr>
          <p:cNvPr id="5" name="metric-gke-validator-pilot">
            <a:extLst xmlns:a="http://schemas.openxmlformats.org/drawingml/2006/main">
              <a:ext uri="{FF2B5EF4-FFF2-40B4-BE49-F238E27FC236}">
                <a16:creationId xmlns:a16="http://schemas.microsoft.com/office/drawing/2014/main" id="{C61242F0-E6FC-4875-8C4F-562C70FD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5334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Running</a:t>
            </a:r>
          </a:p>
        </p:txBody>
      </p:sp>
      <p:sp>
        <p:nvSpPr>
          <p:cNvPr id="6" name="metric-label-gke-validator-pilot">
            <a:extLst xmlns:a="http://schemas.openxmlformats.org/drawingml/2006/main">
              <a:ext uri="{FF2B5EF4-FFF2-40B4-BE49-F238E27FC236}">
                <a16:creationId xmlns:a16="http://schemas.microsoft.com/office/drawing/2014/main" id="{59AFDD2D-6AC5-415B-9202-0243EC46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B6472"/>
                </a:solidFill>
                <a:latin typeface="Aptos"/>
                <a:ea typeface="Aptos"/>
                <a:cs typeface="Aptos"/>
              </a:rPr>
              <a:t>GKE validator pilot</a:t>
            </a:r>
          </a:p>
        </p:txBody>
      </p:sp>
      <p:sp>
        <p:nvSpPr>
          <p:cNvPr id="7" name="metric-real-value-production-use">
            <a:extLst xmlns:a="http://schemas.openxmlformats.org/drawingml/2006/main">
              <a:ext uri="{FF2B5EF4-FFF2-40B4-BE49-F238E27FC236}">
                <a16:creationId xmlns:a16="http://schemas.microsoft.com/office/drawing/2014/main" id="{074D7FE0-3E51-4F9F-881F-5A997038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381250"/>
            <a:ext cx="5334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C84D3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C84D3A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sp>
        <p:nvSpPr>
          <p:cNvPr id="8" name="metric-label-real-value-production-use">
            <a:extLst xmlns:a="http://schemas.openxmlformats.org/drawingml/2006/main">
              <a:ext uri="{FF2B5EF4-FFF2-40B4-BE49-F238E27FC236}">
                <a16:creationId xmlns:a16="http://schemas.microsoft.com/office/drawing/2014/main" id="{06C54378-D871-4C8C-90A0-AF359652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0670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B6472"/>
                </a:solidFill>
                <a:latin typeface="Aptos"/>
                <a:ea typeface="Aptos"/>
                <a:cs typeface="Aptos"/>
              </a:rPr>
              <a:t>real-value production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82F65-745A-4968-8A53-D752E877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5"/>
          </a:solidFill>
          <a:ln xmlns:a="http://schemas.openxmlformats.org/drawingml/2006/main" w="0">
            <a:solidFill>
              <a:srgbClr val="CA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C00B3-8E1C-46E2-BA81-6B45FFF5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F6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1D294-3FE0-4AF6-BE6D-627643DB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Payments can be minted, transferred, screened, finalized, audited, and reported.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CCB19-B5A1-45DA-B1E9-20B451EB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5561F-D48D-450C-A4E2-C804074F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Three permissioned validators are running in GKE with the legacy scheduler paused.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F599C-4855-4E88-B0D5-2F64935E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A1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7AB98-7F72-415A-A364-1F937A55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CAD 200 guardrail is configured for observation, not as a hard spending cap.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368B3-E2FE-48BA-B63C-2926D67A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71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D3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B1A82-1050-4487-8661-74442445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43350"/>
            <a:ext cx="7810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Production ingress, real-value settlement, custody, redemption, and external onboarding remain disabled.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04D20-69A9-488B-B530-466F4672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53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A12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9F17D-417B-4B5B-9C5F-F2F53388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24400"/>
            <a:ext cx="7810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Enterprise hardening now focuses on billing review, failure drills, restore drills, and security review.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01F007-7C45-4F97-952A-9538BBEF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581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F6E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679F1C-F758-4921-A692-5939C6E1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4864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package creates reusable research data and a presentation-ready proof deck.</a:t>
            </a:r>
          </a:p>
        </p:txBody>
      </p:sp>
    </p:spTree>
    <p:extLst>
      <p:ext uri="{BB962C8B-B14F-4D97-AF65-F5344CB8AC3E}">
        <p14:creationId xmlns:p14="http://schemas.microsoft.com/office/powerpoint/2010/main" val="225679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DEB523-7147-4306-AEC6-8B46859C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Architecture: message, screen, settle, finalize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85FDD49-D389-4CD4-BD8D-22215045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11753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B6472"/>
                </a:solidFill>
                <a:latin typeface="Aptos"/>
                <a:ea typeface="Aptos"/>
                <a:cs typeface="Aptos"/>
              </a:rPr>
              <a:t>KANI links financial messaging to ledger finality through compliance-gated transaction intake and permissioned validators.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FB2A8-D3D5-49C3-BE4C-5A89FF0B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605213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4AED1-C785-400E-903A-F4C39C37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3164DA-04E5-43C6-B4CA-22C47826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Institution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46865-DDFE-492C-BEBD-B31ABC17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Native payment and ISO messages enter the sandbox boundary.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3382F-3D85-4BE3-BFB3-773FA25F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29100"/>
            <a:ext cx="400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AD2C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AD2C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A31ED-D62E-4933-8632-49CD160F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13" y="2857500"/>
            <a:ext cx="3605213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ACA0B-521C-4022-BD98-B3B8F189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86100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8A1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8A1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A50C52-5C6B-417D-9246-2792C606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2425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Compliance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979D1-5C42-4BD3-AC3E-03A3CCF8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0050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Rules allow, hold, or block before settlement.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1761F-003A-4105-9A47-3BB90D4C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29100"/>
            <a:ext cx="400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AD2C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AD2C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68DE7-1B1C-4C57-A822-92A6B245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857500"/>
            <a:ext cx="3605213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C36AD-36C1-4488-9A54-4E9F3296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86100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39E7D0-63FC-4F62-9F45-72F6586E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2425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Ledger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6CF98-FCC0-49FC-975B-217833A6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Accounts, balances, journals, audit events, and blocks persist in PostgreSQL.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C2229-82C8-46DE-A04B-8BE402C9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229100"/>
            <a:ext cx="400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AD2C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AD2C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BA7CA-C3B5-4AA7-AC42-0D303DBA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3638" y="2857500"/>
            <a:ext cx="3605213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CD274-8711-4F41-A7CE-F80FC535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086100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C925BA-5396-4F18-AC93-103A7B0D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52425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DD185A-7908-4618-A9E8-611ED662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00050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Permissioned PoA validators append finalized blocks.</a:t>
            </a:r>
          </a:p>
        </p:txBody>
      </p:sp>
    </p:spTree>
    <p:extLst>
      <p:ext uri="{BB962C8B-B14F-4D97-AF65-F5344CB8AC3E}">
        <p14:creationId xmlns:p14="http://schemas.microsoft.com/office/powerpoint/2010/main" val="2063753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7E1C6E-B2E1-467B-92D4-0F0942D3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Ledger controls are already visible in the MVP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53FDBB6-1A37-476B-8260-FEA68268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933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sandbox demonstrates settlement mechanics without enabling production value movement.</a:t>
            </a:r>
          </a:p>
        </p:txBody>
      </p:sp>
      <p:sp>
        <p:nvSpPr>
          <p:cNvPr id="3" name="metric-test-asset-used-in-cloud-smoke">
            <a:extLst xmlns:a="http://schemas.openxmlformats.org/drawingml/2006/main">
              <a:ext uri="{FF2B5EF4-FFF2-40B4-BE49-F238E27FC236}">
                <a16:creationId xmlns:a16="http://schemas.microsoft.com/office/drawing/2014/main" id="{33139D06-B161-4A43-AE53-B298AE04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7219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KCAD_TEST</a:t>
            </a:r>
          </a:p>
        </p:txBody>
      </p:sp>
      <p:sp>
        <p:nvSpPr>
          <p:cNvPr id="4" name="metric-label-test-asset-used-in-cloud-smoke">
            <a:extLst xmlns:a="http://schemas.openxmlformats.org/drawingml/2006/main">
              <a:ext uri="{FF2B5EF4-FFF2-40B4-BE49-F238E27FC236}">
                <a16:creationId xmlns:a16="http://schemas.microsoft.com/office/drawing/2014/main" id="{153D5A21-39AD-4F6D-889A-6C28392A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7219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B6472"/>
                </a:solidFill>
                <a:latin typeface="Aptos"/>
                <a:ea typeface="Aptos"/>
                <a:cs typeface="Aptos"/>
              </a:rPr>
              <a:t>test asset used in cloud smoke</a:t>
            </a:r>
          </a:p>
        </p:txBody>
      </p:sp>
      <p:sp>
        <p:nvSpPr>
          <p:cNvPr id="5" name="metric-corp-a-post-test-balance">
            <a:extLst xmlns:a="http://schemas.openxmlformats.org/drawingml/2006/main">
              <a:ext uri="{FF2B5EF4-FFF2-40B4-BE49-F238E27FC236}">
                <a16:creationId xmlns:a16="http://schemas.microsoft.com/office/drawing/2014/main" id="{E717D216-AFB6-4748-8C8B-75384D0F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7219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875,000</a:t>
            </a:r>
          </a:p>
        </p:txBody>
      </p:sp>
      <p:sp>
        <p:nvSpPr>
          <p:cNvPr id="6" name="metric-label-corp-a-post-test-balance">
            <a:extLst xmlns:a="http://schemas.openxmlformats.org/drawingml/2006/main">
              <a:ext uri="{FF2B5EF4-FFF2-40B4-BE49-F238E27FC236}">
                <a16:creationId xmlns:a16="http://schemas.microsoft.com/office/drawing/2014/main" id="{95480106-A62F-4076-8995-3BA4E5BD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7219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B6472"/>
                </a:solidFill>
                <a:latin typeface="Aptos"/>
                <a:ea typeface="Aptos"/>
                <a:cs typeface="Aptos"/>
              </a:rPr>
              <a:t>CORP_A post-test balance</a:t>
            </a:r>
          </a:p>
        </p:txBody>
      </p:sp>
      <p:sp>
        <p:nvSpPr>
          <p:cNvPr id="7" name="metric-corp-b-post-test-balance">
            <a:extLst xmlns:a="http://schemas.openxmlformats.org/drawingml/2006/main">
              <a:ext uri="{FF2B5EF4-FFF2-40B4-BE49-F238E27FC236}">
                <a16:creationId xmlns:a16="http://schemas.microsoft.com/office/drawing/2014/main" id="{282BA78D-0406-45A5-A1F8-4CDAFFAE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7219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D98A12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D98A12"/>
                </a:solidFill>
                <a:latin typeface="Aptos"/>
                <a:ea typeface="Aptos"/>
                <a:cs typeface="Aptos"/>
              </a:rPr>
              <a:t>125,000</a:t>
            </a:r>
          </a:p>
        </p:txBody>
      </p:sp>
      <p:sp>
        <p:nvSpPr>
          <p:cNvPr id="8" name="metric-label-corp-b-post-test-balance">
            <a:extLst xmlns:a="http://schemas.openxmlformats.org/drawingml/2006/main">
              <a:ext uri="{FF2B5EF4-FFF2-40B4-BE49-F238E27FC236}">
                <a16:creationId xmlns:a16="http://schemas.microsoft.com/office/drawing/2014/main" id="{9D36B5E5-FE94-4FC7-A5EA-B582E77F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7219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B6472"/>
                </a:solidFill>
                <a:latin typeface="Aptos"/>
                <a:ea typeface="Aptos"/>
                <a:cs typeface="Aptos"/>
              </a:rPr>
              <a:t>CORP_B post-test balance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B1D6E-7D85-4F22-A752-E36F65C1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F6E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198EA-3567-4049-9A85-CA431D96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861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Mint and transfer paths run through ledger validation.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AD882-2897-4678-98CB-DD109677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051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C73D7-E160-4C28-B02E-A931DA93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861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No-negative-balance and request validation are covered by smoke tests.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33BD1-32BB-4014-BE0F-C1E117CD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A1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DC1B5-E930-4B04-9F0D-6E64CAF3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861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Journal, audit, and report surfaces give reviewers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472C9-381A-41AC-9015-FA68B8DA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147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D3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1CE36-142B-4D4A-B96A-20D05FD0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861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Production assets remain disabled until legal and compliance gates pass.</a:t>
            </a:r>
          </a:p>
        </p:txBody>
      </p:sp>
    </p:spTree>
    <p:extLst>
      <p:ext uri="{BB962C8B-B14F-4D97-AF65-F5344CB8AC3E}">
        <p14:creationId xmlns:p14="http://schemas.microsoft.com/office/powerpoint/2010/main" val="1023605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E3FA74-7520-4CE7-9055-6DBB4385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Validator finality: three identities, two votes, one block path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1D3A4E1-842D-48F1-A3CC-2FAB96E5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11772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day-zero smoke test finalized through the continuous GKE validator path while the legacy scheduler remained paused.</a:t>
            </a:r>
          </a:p>
        </p:txBody>
      </p:sp>
      <p:sp>
        <p:nvSpPr>
          <p:cNvPr id="3" name="metric-validator-pods-running">
            <a:extLst xmlns:a="http://schemas.openxmlformats.org/drawingml/2006/main">
              <a:ext uri="{FF2B5EF4-FFF2-40B4-BE49-F238E27FC236}">
                <a16:creationId xmlns:a16="http://schemas.microsoft.com/office/drawing/2014/main" id="{BC169945-E0A6-488C-8474-7329434A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8077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" name="metric-label-validator-pods-running">
            <a:extLst xmlns:a="http://schemas.openxmlformats.org/drawingml/2006/main">
              <a:ext uri="{FF2B5EF4-FFF2-40B4-BE49-F238E27FC236}">
                <a16:creationId xmlns:a16="http://schemas.microsoft.com/office/drawing/2014/main" id="{3DF0774F-53F7-4364-A4FE-4B835FC0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807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B6472"/>
                </a:solidFill>
                <a:latin typeface="Aptos"/>
                <a:ea typeface="Aptos"/>
                <a:cs typeface="Aptos"/>
              </a:rPr>
              <a:t>validator pods running</a:t>
            </a:r>
          </a:p>
        </p:txBody>
      </p:sp>
      <p:sp>
        <p:nvSpPr>
          <p:cNvPr id="5" name="metric-pod-restarts-at-capture">
            <a:extLst xmlns:a="http://schemas.openxmlformats.org/drawingml/2006/main">
              <a:ext uri="{FF2B5EF4-FFF2-40B4-BE49-F238E27FC236}">
                <a16:creationId xmlns:a16="http://schemas.microsoft.com/office/drawing/2014/main" id="{85DDF9E5-9991-4F0F-BE20-A6E80E0A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8077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" name="metric-label-pod-restarts-at-capture">
            <a:extLst xmlns:a="http://schemas.openxmlformats.org/drawingml/2006/main">
              <a:ext uri="{FF2B5EF4-FFF2-40B4-BE49-F238E27FC236}">
                <a16:creationId xmlns:a16="http://schemas.microsoft.com/office/drawing/2014/main" id="{A95EF819-3EB4-4940-9D48-F5424965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807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B6472"/>
                </a:solidFill>
                <a:latin typeface="Aptos"/>
                <a:ea typeface="Aptos"/>
                <a:cs typeface="Aptos"/>
              </a:rPr>
              <a:t>pod restarts at capture</a:t>
            </a:r>
          </a:p>
        </p:txBody>
      </p:sp>
      <p:sp>
        <p:nvSpPr>
          <p:cNvPr id="7" name="metric-pending-transactions-after-smoke">
            <a:extLst xmlns:a="http://schemas.openxmlformats.org/drawingml/2006/main">
              <a:ext uri="{FF2B5EF4-FFF2-40B4-BE49-F238E27FC236}">
                <a16:creationId xmlns:a16="http://schemas.microsoft.com/office/drawing/2014/main" id="{5CE39C3D-1A9F-4E65-B225-54A92787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8077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D98A12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D98A1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" name="metric-label-pending-transactions-after-smoke">
            <a:extLst xmlns:a="http://schemas.openxmlformats.org/drawingml/2006/main">
              <a:ext uri="{FF2B5EF4-FFF2-40B4-BE49-F238E27FC236}">
                <a16:creationId xmlns:a16="http://schemas.microsoft.com/office/drawing/2014/main" id="{4FFF5E59-786B-48D6-81C7-74C04F0C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807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B6472"/>
                </a:solidFill>
                <a:latin typeface="Aptos"/>
                <a:ea typeface="Aptos"/>
                <a:cs typeface="Aptos"/>
              </a:rPr>
              <a:t>pending transactions after smoke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1CF24-C9E2-45F2-87F9-2B5508CE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03120"/>
            <a:ext cx="8077200" cy="73152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D9F2E9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89309-9D14-4FD0-96D9-FE9A67F0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193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F6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DA8B3-89E7-4E4B-AA06-0E9CF2F2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43150"/>
            <a:ext cx="7410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validator-a: 2/2 Running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98E80-4237-4CAE-93DF-CBDFE643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4190"/>
            <a:ext cx="8077200" cy="73152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1E8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9A508-A631-4AC7-9335-DC835CD0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718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64828-E26C-4F52-8488-4F0993DB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76600"/>
            <a:ext cx="7410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validator-b: 2/2 Running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B8091-4201-458E-AA87-E771B7F0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85260"/>
            <a:ext cx="8077200" cy="73152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0CE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6238D-243E-4A90-B98E-E6346ADA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053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A12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0B796-85C4-407F-9470-82591D59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210050"/>
            <a:ext cx="7410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validator-c: produced latest block 42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8437C-0C83-423B-9E46-2C9A044E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33950"/>
            <a:ext cx="807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5"/>
          </a:solidFill>
          <a:ln xmlns:a="http://schemas.openxmlformats.org/drawingml/2006/main" w="0">
            <a:solidFill>
              <a:srgbClr val="CA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AB94DA-F730-4E79-AD57-AA29E92E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162550"/>
            <a:ext cx="807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Latest finality participants: validator-c and validator-a.</a:t>
            </a:r>
          </a:p>
        </p:txBody>
      </p:sp>
    </p:spTree>
    <p:extLst>
      <p:ext uri="{BB962C8B-B14F-4D97-AF65-F5344CB8AC3E}">
        <p14:creationId xmlns:p14="http://schemas.microsoft.com/office/powerpoint/2010/main" val="5726627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9042D0-EFF0-470D-ACBB-008AF8BB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ISO and compliance are wired into the same settlement path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BF5B90E-A8EE-48C2-9E99-5DF7E51B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12020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ISO test flow does not bypass the ledger. It maps into the same transaction, screening, finality, audit, and reporting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894AF-4063-4916-BEF4-24AA5C9B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9911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691200-5D94-4D6A-AC40-2271CE3E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4495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pacs.008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5B0B4-5E48-4E7C-806F-92E72929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4495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Inbound payment message parsed into debtor, creditor, asset, and amount.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EE791-0161-4514-AE6D-55676F16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52950"/>
            <a:ext cx="457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AD2C5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CAD2C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FA121-FEFE-478F-898A-DB280E25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57500"/>
            <a:ext cx="49911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240F48-86C5-45C9-BD60-CC5E2431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4495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98A1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D98A12"/>
                </a:solidFill>
                <a:latin typeface="Aptos"/>
                <a:ea typeface="Aptos"/>
                <a:cs typeface="Aptos"/>
              </a:rPr>
              <a:t>Compliance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5E577-CFF1-4462-88D7-5A628730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76650"/>
            <a:ext cx="4495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Sandbox STP allows approved test transfers and blocks self-transfer.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77BFA-493C-48DD-956D-40BF6412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552950"/>
            <a:ext cx="457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AD2C5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CAD2C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BDB7E-0F0A-44EB-A1CC-A2B65B47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857500"/>
            <a:ext cx="49911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83F1F9-FE14-4AB7-82D5-32C62F12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3105150"/>
            <a:ext cx="4495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ACSC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2C3F9-D306-4EE0-972F-4AAD1A09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3848100"/>
            <a:ext cx="4495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Status returned after settlement path acceptance and finality evidence.</a:t>
            </a:r>
          </a:p>
        </p:txBody>
      </p:sp>
    </p:spTree>
    <p:extLst>
      <p:ext uri="{BB962C8B-B14F-4D97-AF65-F5344CB8AC3E}">
        <p14:creationId xmlns:p14="http://schemas.microsoft.com/office/powerpoint/2010/main" val="17025126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8C08E1-493D-41BA-AA27-B420ACC6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Cloud runtime proof is concrete, not conceptual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E889E87-E540-434D-B353-6B386FEB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826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sandbox is deployed with running Google Cloud services and a live validator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85863-F24F-491C-9084-B468A51D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03120"/>
            <a:ext cx="3429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1D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F7A20-4953-47E7-8C74-5B80AF98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9CA3B-0FB8-40A1-A2A7-01F6BB82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03120"/>
            <a:ext cx="3429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1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F5A28-C3EA-47A7-BE6E-F273562E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98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460C5-CB81-4A18-A9AC-E72D8F68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03120"/>
            <a:ext cx="97917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1D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1B7E8-295C-4F1F-B79B-7075B071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948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Proof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FBE2C-FA04-4F24-A7C4-2AE96828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746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EC6FD-D8EF-4629-B032-F39415DA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Cloud Run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03E94-335A-42F8-8AD7-252F94BD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3746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E7C9B-0ECC-4B22-89F2-9242D384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479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05A36-4D2F-4BDF-A872-95664701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37460"/>
            <a:ext cx="97917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0AC10-05FB-4B3C-A108-17324802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47950"/>
            <a:ext cx="948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kani-sandbox-api serving 100 percent latest revision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E6D41-247E-40A0-AA06-D9D86C98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294A8-D3B0-4F23-91A2-441C685F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Cloud 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51109-F0DA-4442-87C2-ABE3DCA1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7F96FC-058B-49FF-A385-0CB610D4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RUNNABLE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7D17F-1210-4367-8494-E5ACA883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52750"/>
            <a:ext cx="97917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D18B8-AF3D-4BAC-BEF8-E3CA15BA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67050"/>
            <a:ext cx="948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PostgreSQL 16, db-g1-small, backups and PITR enabled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A9A15-8D25-4D2F-BF40-29704037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804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96ED1-797A-473E-A53F-16CA3D5C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9A05D6-0719-47DA-835C-255F3990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6804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60204A-40E3-4483-979F-E182E1C0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671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RUNNING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24274D-1ABE-4604-86CD-72D448B8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68040"/>
            <a:ext cx="97917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1BF83D-AFA5-46AE-B9D5-FFCFB567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67100"/>
            <a:ext cx="948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One e2-medium node running three validator pods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A26744-A0C8-45A3-A118-F82C0FF1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333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4CC387-082B-4BBB-9365-8D83FCA5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CE484C-BEFB-46D1-96F2-98CF7C1E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8333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CDDF9D-4BC8-46FA-82A7-D972313C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862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8A1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8A12"/>
                </a:solidFill>
                <a:latin typeface="Aptos"/>
                <a:ea typeface="Aptos"/>
                <a:cs typeface="Aptos"/>
              </a:rPr>
              <a:t>PAUSED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3DB0FF-4D79-4427-898C-AE2F6D86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83330"/>
            <a:ext cx="97917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A7996C-4A8B-499C-A370-2BA18507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86200"/>
            <a:ext cx="948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Legacy validator job paused while GKE is active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584C49-D951-487A-90E8-511907CB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862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2CD727-A61B-4C95-A45D-55482B0C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Budget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0CD7E4-7730-47F6-B1F0-85A2D03C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9862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DD8397-1A26-4E27-ABDA-438387B5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053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CAD 200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1B65D8-C095-49E0-B325-3EC27DF9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98620"/>
            <a:ext cx="97917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6933C3-1671-49D8-AA9F-5150ED66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05300"/>
            <a:ext cx="948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50, 80, and 100 percent threshold alerts configured</a:t>
            </a:r>
          </a:p>
        </p:txBody>
      </p:sp>
    </p:spTree>
    <p:extLst>
      <p:ext uri="{BB962C8B-B14F-4D97-AF65-F5344CB8AC3E}">
        <p14:creationId xmlns:p14="http://schemas.microsoft.com/office/powerpoint/2010/main" val="1379493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83114A-4F96-40DF-A38D-0AD2C674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Day-zero smoke result: settlement lifecycle passed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63D8FBE-CB46-4D07-828A-C4AFB3AA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9582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live test exercised mint, transfer, ISO, compliance, finality, reports, and pending-queue cleanup.</a:t>
            </a:r>
          </a:p>
        </p:txBody>
      </p:sp>
      <p:sp>
        <p:nvSpPr>
          <p:cNvPr id="3" name="metric-latest-finalized-block">
            <a:extLst xmlns:a="http://schemas.openxmlformats.org/drawingml/2006/main">
              <a:ext uri="{FF2B5EF4-FFF2-40B4-BE49-F238E27FC236}">
                <a16:creationId xmlns:a16="http://schemas.microsoft.com/office/drawing/2014/main" id="{F77AAEDC-BAFC-46DE-9F19-BBD4E20C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685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4" name="metric-label-latest-finalized-block">
            <a:extLst xmlns:a="http://schemas.openxmlformats.org/drawingml/2006/main">
              <a:ext uri="{FF2B5EF4-FFF2-40B4-BE49-F238E27FC236}">
                <a16:creationId xmlns:a16="http://schemas.microsoft.com/office/drawing/2014/main" id="{CF44AF79-5016-4A1A-AD18-E1F1E11E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685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B6472"/>
                </a:solidFill>
                <a:latin typeface="Aptos"/>
                <a:ea typeface="Aptos"/>
                <a:cs typeface="Aptos"/>
              </a:rPr>
              <a:t>latest finalized block</a:t>
            </a:r>
          </a:p>
        </p:txBody>
      </p:sp>
      <p:sp>
        <p:nvSpPr>
          <p:cNvPr id="5" name="metric-iso-status">
            <a:extLst xmlns:a="http://schemas.openxmlformats.org/drawingml/2006/main">
              <a:ext uri="{FF2B5EF4-FFF2-40B4-BE49-F238E27FC236}">
                <a16:creationId xmlns:a16="http://schemas.microsoft.com/office/drawing/2014/main" id="{99259D8A-F9AB-45C6-B685-B13DBCCE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685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ACSC</a:t>
            </a:r>
          </a:p>
        </p:txBody>
      </p:sp>
      <p:sp>
        <p:nvSpPr>
          <p:cNvPr id="6" name="metric-label-iso-status">
            <a:extLst xmlns:a="http://schemas.openxmlformats.org/drawingml/2006/main">
              <a:ext uri="{FF2B5EF4-FFF2-40B4-BE49-F238E27FC236}">
                <a16:creationId xmlns:a16="http://schemas.microsoft.com/office/drawing/2014/main" id="{8B36DFF8-AA7C-471A-81E1-A13472AE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685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B6472"/>
                </a:solidFill>
                <a:latin typeface="Aptos"/>
                <a:ea typeface="Aptos"/>
                <a:cs typeface="Aptos"/>
              </a:rPr>
              <a:t>ISO status</a:t>
            </a:r>
          </a:p>
        </p:txBody>
      </p:sp>
      <p:sp>
        <p:nvSpPr>
          <p:cNvPr id="7" name="metric-pending-transactions">
            <a:extLst xmlns:a="http://schemas.openxmlformats.org/drawingml/2006/main">
              <a:ext uri="{FF2B5EF4-FFF2-40B4-BE49-F238E27FC236}">
                <a16:creationId xmlns:a16="http://schemas.microsoft.com/office/drawing/2014/main" id="{B14C7E7F-D044-4EFB-B4B1-05C72155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685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D98A12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D98A1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" name="metric-label-pending-transactions">
            <a:extLst xmlns:a="http://schemas.openxmlformats.org/drawingml/2006/main">
              <a:ext uri="{FF2B5EF4-FFF2-40B4-BE49-F238E27FC236}">
                <a16:creationId xmlns:a16="http://schemas.microsoft.com/office/drawing/2014/main" id="{3E007A6B-6DD0-4ACB-A60F-E6B4BF77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685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B6472"/>
                </a:solidFill>
                <a:latin typeface="Aptos"/>
                <a:ea typeface="Aptos"/>
                <a:cs typeface="Aptos"/>
              </a:rPr>
              <a:t>pending transactions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0A296-8EF7-4B80-8866-84A2B764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070" y="2388870"/>
            <a:ext cx="3429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1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9A6CC-F1B2-4242-A7B9-91DE7010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4FC7D-8DD7-4C07-83A5-CA3E8796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070" y="2388870"/>
            <a:ext cx="3429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1D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A1017-34E3-4FD8-B05A-9E8CEA78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4955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0D569-9083-442D-8C19-D93E41BB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8070" y="2388870"/>
            <a:ext cx="243078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1D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65A70-416C-482B-9910-F5E4A4F9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2495550"/>
            <a:ext cx="2133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Proof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31A41-194F-4D5A-AB27-00E214C2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070" y="282321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3884E-A705-4C2A-B6A3-7CA61F17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Mint transaction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DC909-DD76-436A-81E5-32E09229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070" y="282321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4F26E2-01EB-4DB5-9C9A-3F577CFC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9337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c40bd07e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F28F5-AA39-4B0A-99D3-FB10869E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8070" y="2823210"/>
            <a:ext cx="243078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950612-2807-4456-BC73-E818A88B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2933700"/>
            <a:ext cx="2133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Treasury test issuance entered the ledger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8ADC07-450A-4F10-9306-CB90CF85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070" y="344424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51E45-93B9-45FA-856C-B607B0DF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433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Transfer transaction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2433E6-17B5-4D32-B7D4-0334F37D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070" y="344424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6911A5-7557-42F2-862F-1D792463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5433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02a141d0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B6DF5D-C6CE-4F81-8701-7B9908D3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8070" y="3444240"/>
            <a:ext cx="243078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92316E-56C9-43FE-A9C6-2C791859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3543300"/>
            <a:ext cx="2133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CORP_A to CORP_B transfer finalized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BBEB51-0648-439B-BE49-366B3D63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070" y="406527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E7B407-7CDD-4709-9102-81480948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719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ISO transaction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2553F0-9522-4628-AF9B-F1B74AC2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070" y="406527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6432E7-3963-44E2-9743-512B36A0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41719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bc4667c2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5EA27A-B4BD-48FF-A2EF-D5B56AB1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8070" y="4065270"/>
            <a:ext cx="243078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83E49B-C665-48AA-89E6-80C7FB75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4171950"/>
            <a:ext cx="2133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ISO-originated payment returned ACSC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DBBA4E-AC2E-4F3C-95C1-259BD473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070" y="468630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8CF0D7-2AE4-4FEA-A33A-7F627ABE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815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Compliance events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91BF8B-A302-43E5-9741-DCAF0A9F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070" y="468630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E2AF21-5788-46DE-BB3C-C79EED0F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47815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8A1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8A12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DBBA3A-A389-4020-8AA1-03DC86B4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8070" y="4686300"/>
            <a:ext cx="243078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C7E6D4-D37B-4594-A94A-4C32E2DE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4781550"/>
            <a:ext cx="2133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Compliance report populated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5D826D-E172-41C5-B197-C42A5BAA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070" y="510159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FCF433-B7C6-4528-96C9-F7F9E880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006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Audit reports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B95AD9-82C3-4FB6-AF30-9E6C7BF0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070" y="510159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47EAA3-B880-404F-82E8-78C97C2A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2006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verified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1CC63D-7213-4BD0-B58E-CC46D764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8070" y="5101590"/>
            <a:ext cx="243078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90E70A-9EA9-43D0-BF39-D94466DA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5200650"/>
            <a:ext cx="2133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Settlement and validator reports available</a:t>
            </a:r>
          </a:p>
        </p:txBody>
      </p:sp>
    </p:spTree>
    <p:extLst>
      <p:ext uri="{BB962C8B-B14F-4D97-AF65-F5344CB8AC3E}">
        <p14:creationId xmlns:p14="http://schemas.microsoft.com/office/powerpoint/2010/main" val="14104644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D34732-F908-4D47-A262-8DD2A270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Enterprise sandbox control matrix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DC0B910-8225-4EDB-8724-D1666D9D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10725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controls are strong enough for sandbox review. Some domains remain intentionally design-only or blocked.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5E9ED-5AA2-496C-8216-E4FCB0BB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4570"/>
            <a:ext cx="3714750" cy="4229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1D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E1B74-830C-4863-9F4E-840B80CE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3409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D922D-D0A7-432A-B1C6-6C49509F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74570"/>
            <a:ext cx="2571750" cy="4229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1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EBFDC-9D48-458F-9198-9255D856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2266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72472-7ACA-4C55-9481-900DF33C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74570"/>
            <a:ext cx="10363200" cy="4229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1D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67076-29D1-4823-B7A9-3438C52E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10058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D3789-B0EA-4EE7-8BA2-BFDEDB9C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7480"/>
            <a:ext cx="371475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7F0FA-62EB-433A-ADC4-664E9A98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3409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Sandbox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334A5-52F0-4E78-A65D-B82030DC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97480"/>
            <a:ext cx="257175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FE322-1337-41F9-AF5C-C15F3855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2266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5F52F-2DFB-4EB8-AE2A-D34CB422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97480"/>
            <a:ext cx="1036320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9B7F30-67D0-4EE9-808A-C764E527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10058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Keep production and real-value gates blocked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B8517-5282-431A-A059-BF1B2430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2290"/>
            <a:ext cx="371475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3BEF9-0ED2-4653-9F99-442A52B5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3409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Ledger and payment lifecycle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D0237-B04C-4434-89AB-552F900A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82290"/>
            <a:ext cx="257175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C54BD-D85E-4903-BFDF-1236109A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81350"/>
            <a:ext cx="2266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681D0-4579-4F40-BE84-1E5E9599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82290"/>
            <a:ext cx="1036320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F7CA6-BA0F-41CF-9C9B-900F56D7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81350"/>
            <a:ext cx="10058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Add one-month replay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B3693-53F5-457C-B25E-350766C2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371475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21EB56-982D-4240-A9CB-D904B776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3409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Validator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F1BC5F-E3B5-4707-AAB4-F26D746E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67100"/>
            <a:ext cx="257175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1B728-5C21-4F64-9B75-D8BE0464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266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ready for observation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E84952-1163-4D5F-9F05-C7B4DFD7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1036320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E018C9-2002-4F81-BD4D-94F1FFAF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62350"/>
            <a:ext cx="10058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Run controlled restart/failure drill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9FE2E-B501-47B2-A821-591C4D7C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1910"/>
            <a:ext cx="371475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6926F6-3ED1-42B0-AFA8-A7B77F4F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3409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Cloud SQL recovery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E287EB-040D-40C9-AD03-4420520E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51910"/>
            <a:ext cx="257175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F456AF-6E3E-40FB-AC88-4616E8DB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266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configured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505F09-5F63-4DC6-B741-E0C18138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51910"/>
            <a:ext cx="1036320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B23E67-DF7B-4F4D-8D5F-43B41703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43350"/>
            <a:ext cx="10058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Execute restore-to-separate-target drill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5A134F-985F-4A47-9362-BC97C60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6720"/>
            <a:ext cx="371475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867A10-76A2-4EAA-A227-C813F55C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3409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Security review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FFDA27-1B1D-467F-8ED0-8C2434A3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36720"/>
            <a:ext cx="257175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5ECDA2-5CF0-4D2A-8669-5EBB452A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2266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8A1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8A12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4D293B-E399-4619-B272-61C71B48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36720"/>
            <a:ext cx="1036320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EFC5BE-A895-48EA-A8B7-8EFE5D40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24350"/>
            <a:ext cx="10058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Open formal review and remediation register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C5E212-7192-4E19-85AD-2266B819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1530"/>
            <a:ext cx="371475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3F67A0-6618-450C-9E32-C5BB653E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3409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HSM/KMS signing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47D392-0C7F-4AB6-998E-13A3EF2C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21530"/>
            <a:ext cx="257175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75B83A-A735-4243-9087-BC30B5F4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24400"/>
            <a:ext cx="2266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8A1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8A12"/>
                </a:solidFill>
                <a:latin typeface="Aptos"/>
                <a:ea typeface="Aptos"/>
                <a:cs typeface="Aptos"/>
              </a:rPr>
              <a:t>design-only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7D34FB-074C-4BBE-B262-5D389F04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21530"/>
            <a:ext cx="1036320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CBF362-405C-4331-BC6F-345F3155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24400"/>
            <a:ext cx="10058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Do not enable until approved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9A8AA4-AF14-4A5F-9891-ECC3BEE0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6340"/>
            <a:ext cx="371475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7D3B3F-6E7B-4C67-9069-E3D227BC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05400"/>
            <a:ext cx="3409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Production ingress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C8F235-41F3-4923-874F-7CF98655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06340"/>
            <a:ext cx="257175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E0E06A-7FCF-411C-A718-228AA4DC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05400"/>
            <a:ext cx="2266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8A1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8A12"/>
                </a:solidFill>
                <a:latin typeface="Aptos"/>
                <a:ea typeface="Aptos"/>
                <a:cs typeface="Aptos"/>
              </a:rPr>
              <a:t>design-only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A8E6C4-AFF7-4CE8-A1A1-AB6F91D3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06340"/>
            <a:ext cx="1036320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7E6547-990F-425F-8472-D92B3D89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05400"/>
            <a:ext cx="10058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Keep mTLS/OIDC/Cloud Armor gated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2AE5A3-0397-4BF3-B30E-B05C38F9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371475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CC9F7E-9F75-4AD7-8BE5-A98D034E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86400"/>
            <a:ext cx="3409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Real-value settlement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66BBCB-31FD-47F3-9136-9FE2A69F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91150"/>
            <a:ext cx="257175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26DA8E-E71C-4ED3-BAFB-36D2FA93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86400"/>
            <a:ext cx="2266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84D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4D3A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630C05-8F08-42D0-A577-5EFDBE5E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391150"/>
            <a:ext cx="10363200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F48782-847B-48C1-8A37-AB7C130A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86400"/>
            <a:ext cx="10058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Requires legal, compliance, and executive approvals</a:t>
            </a:r>
          </a:p>
        </p:txBody>
      </p:sp>
    </p:spTree>
    <p:extLst>
      <p:ext uri="{BB962C8B-B14F-4D97-AF65-F5344CB8AC3E}">
        <p14:creationId xmlns:p14="http://schemas.microsoft.com/office/powerpoint/2010/main" val="21146490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6BF4B8-F8D8-44AD-826C-2BE1A7BE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remains before calling it enterprise-ready sandbox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B329260-0D82-42D8-B0F2-7BEBDD9E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10991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next phase is evidence depth: repeated observations, controlled failure, recovery proof, and signoff discipline.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5D764-55BF-42B0-AB76-99E6D9B6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A12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6E835-6BDF-4CC5-8646-2B38C54E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First billing review after Google Cloud billing data catches 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4E166-E601-4707-9339-19F79DD2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F6E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C7CA4-555C-4BB6-A903-E2A4B2FB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Weekly GKE observation with pod restarts, finality, logs, and pending count.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86C22-1AF4-4774-BB0A-2C124805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F785A-29F8-4211-AD48-4945AB75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Controlled validator restart or failure drill.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619EC-72C1-424E-8DD4-69524041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A1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7E649-78A3-4590-B45B-BC25E505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Cloud SQL restore-to-separate-target drill.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342F7-738F-446C-8C69-6AE4C153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765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87742-FD4F-4EB6-A653-B7A30662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003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Sandbox API key rotation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9F811-85C0-4EFC-A8E9-7F8FB73E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908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A1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150A2-8AE3-4AAD-A67C-4EBD6C7D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956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Formal security review register and remediation tracker.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44FA7-3E71-440B-AE4D-744D5E39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861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F6E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35B85-7A4A-421E-8219-377F936F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909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Operator and reviewer signoff fields for evidence packs.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07253-C956-4740-BA9A-410DF032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005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F6E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A3AB79-64F2-4043-9EF3-EFB98108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0525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One-month closeout on June 10, 2026.</a:t>
            </a:r>
          </a:p>
        </p:txBody>
      </p:sp>
    </p:spTree>
    <p:extLst>
      <p:ext uri="{BB962C8B-B14F-4D97-AF65-F5344CB8AC3E}">
        <p14:creationId xmlns:p14="http://schemas.microsoft.com/office/powerpoint/2010/main" val="11075273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896B25-FD75-4FD8-B608-19790DFC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Research data generated for reuse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A464298-8390-41C9-9FC3-5CF9BD44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11353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pack is structured so it can support technical review, investor material, patent support, and future audit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A6978-A88D-48DA-B017-B439155A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8870"/>
            <a:ext cx="3429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1D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C6865-613D-43BB-BAA0-07014554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5FBFF-E023-4FF0-BB30-28B22E25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88870"/>
            <a:ext cx="3429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1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2EB9A-F797-4938-B329-5C5777D7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955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BAF0F-34AC-449C-BCB0-BBBFF324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88870"/>
            <a:ext cx="97917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1D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5563F-7246-4E2A-8E1F-C9E752BD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95550"/>
            <a:ext cx="948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Proof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81DA0-52AD-483F-8F8D-934F1496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2321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37EEE-7E52-44E2-8ACE-2B9E1A5F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Readiness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29C0E-6D89-4979-A943-BE2C0B09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2321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A21A4-EE83-43CE-B8E2-22E8FEEC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337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Markdown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7C690-C97E-4A87-A402-0BB1FF56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23210"/>
            <a:ext cx="97917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FC538-0F67-4164-B3CA-58DFE7D0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3700"/>
            <a:ext cx="948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Narrative summary for enterprise sandbox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90D54-C624-4F44-A217-2E571FC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F41DE-E6CD-4A23-84A1-46F5FF62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Controls matrix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B82A6-C198-4426-8710-F52919E6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3850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43D3D-AA13-4B3A-BFCC-C375952F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5280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CSV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28840-D0A2-4C69-8D31-258E5C00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38500"/>
            <a:ext cx="97917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7EF0D-BB29-41A1-B32B-0C64544E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52800"/>
            <a:ext cx="948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Domain, status, evidence, next action, presentation use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DF05D-A08B-4B69-B64E-299F913A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379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F1B593-35B4-4257-B4F3-F49BE1B9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Metrics dataset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EF4EA9-14B3-4DCC-A300-ADB3B5D8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5379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60B94D-150D-4DAD-B105-8652A1BF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528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CSV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77A3EE-1DE4-485C-AA32-1AAC7147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53790"/>
            <a:ext cx="97917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A983F9-B610-41EF-A550-A1620CF4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52850"/>
            <a:ext cx="948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Measured proof points from the day-zero sandbox run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51EB19-84FB-4F22-86BB-F06A5A80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6908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6BA481-D568-42B1-ADD2-AF56E741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Evidence index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47B76E-E352-48C2-A565-587C9544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6908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1AEDF1-ECD5-49F6-ACFC-3487789F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719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CSV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EBF6B6-020B-4AAD-A908-55A7D5CD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69080"/>
            <a:ext cx="97917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B8F26-BFE0-4A81-8C86-A2FBA382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71950"/>
            <a:ext cx="948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Artifact map with primary use and confidentiality notes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B576D8-AEAA-4F36-AE9C-8D261765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8437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2C062E-EE47-48CA-978F-DF469F41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Structured summary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4381AF-E6DD-46D5-A6AC-78C0BA95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8437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39D3B8-6EE8-4DD0-986E-7F337AD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910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8A1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8A12"/>
                </a:solidFill>
                <a:latin typeface="Aptos"/>
                <a:ea typeface="Aptos"/>
                <a:cs typeface="Aptos"/>
              </a:rPr>
              <a:t>YAML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AE61C3-B4D0-4BA3-A139-D93C01D8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84370"/>
            <a:ext cx="97917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A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D1D832-E19C-4E4C-BA7E-0B096744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91050"/>
            <a:ext cx="948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Machine-readable readiness snapshot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B521C1-72E0-4ADD-B7DC-610B066B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966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205823-6BD3-4DC7-8353-0D64E800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PowerPoint deck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8F84A0-A6B7-4FC4-BDA2-66570398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99660"/>
            <a:ext cx="34290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17C187-3C08-4E81-A800-309B7AEF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101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PPTX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CD1899-D2DB-47F9-8012-2C8926E0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99660"/>
            <a:ext cx="9791700" cy="415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CB2635-2FF6-44F0-8F4B-8166072E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10150"/>
            <a:ext cx="948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Editable presentation for research and stakeholder review</a:t>
            </a:r>
          </a:p>
        </p:txBody>
      </p:sp>
    </p:spTree>
    <p:extLst>
      <p:ext uri="{BB962C8B-B14F-4D97-AF65-F5344CB8AC3E}">
        <p14:creationId xmlns:p14="http://schemas.microsoft.com/office/powerpoint/2010/main" val="9292208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DEA2A1-4B78-4DCE-95C8-CC18A24D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Recommended conclusion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1CBA8CE-3149-419C-9762-F3BA23C3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7829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B6472"/>
                </a:solidFill>
                <a:latin typeface="Aptos"/>
                <a:ea typeface="Aptos"/>
                <a:cs typeface="Aptos"/>
              </a:rPr>
              <a:t>Use this exact positioning to avoid over-claiming while still showing real progress.</a:t>
            </a:r>
          </a:p>
        </p:txBody>
      </p:sp>
      <p:sp>
        <p:nvSpPr>
          <p:cNvPr id="3" name="conclusion-main">
            <a:extLst xmlns:a="http://schemas.openxmlformats.org/drawingml/2006/main">
              <a:ext uri="{FF2B5EF4-FFF2-40B4-BE49-F238E27FC236}">
                <a16:creationId xmlns:a16="http://schemas.microsoft.com/office/drawing/2014/main" id="{8734EA6B-D636-4D33-8D9F-19F1B705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88582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KANI has an implemented, observable sandbox MVP.</a:t>
            </a:r>
          </a:p>
        </p:txBody>
      </p:sp>
      <p:sp>
        <p:nvSpPr>
          <p:cNvPr id="4" name="conclusion-sub">
            <a:extLst xmlns:a="http://schemas.openxmlformats.org/drawingml/2006/main">
              <a:ext uri="{FF2B5EF4-FFF2-40B4-BE49-F238E27FC236}">
                <a16:creationId xmlns:a16="http://schemas.microsoft.com/office/drawing/2014/main" id="{88FC9BE6-A2F5-4B59-98F6-E959EEAA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29350"/>
            <a:ext cx="8305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sandbox proves the settlement lifecycle end to end. Enterprise readiness work is now about repeatable evidence, drills, controls, and approvals.</a:t>
            </a:r>
          </a:p>
        </p:txBody>
      </p:sp>
      <p:sp>
        <p:nvSpPr>
          <p:cNvPr id="5" name="pill-call-it-enterprise-sandbox-evidence-ready">
            <a:extLst xmlns:a="http://schemas.openxmlformats.org/drawingml/2006/main">
              <a:ext uri="{FF2B5EF4-FFF2-40B4-BE49-F238E27FC236}">
                <a16:creationId xmlns:a16="http://schemas.microsoft.com/office/drawing/2014/main" id="{CF478634-7910-4174-A7FE-4C0E05A8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5088" y="4650105"/>
            <a:ext cx="3603498" cy="5410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2E9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D542D-13B0-42FC-BEE7-C3D29E79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24400"/>
            <a:ext cx="3257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8F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6E"/>
                </a:solidFill>
                <a:latin typeface="Aptos"/>
                <a:ea typeface="Aptos"/>
                <a:cs typeface="Aptos"/>
              </a:rPr>
              <a:t>CALL IT: ENTERPRISE SANDBOX EVIDENCE READY</a:t>
            </a:r>
          </a:p>
        </p:txBody>
      </p:sp>
      <p:sp>
        <p:nvSpPr>
          <p:cNvPr id="7" name="pill-do-not-call-it-production-ready">
            <a:extLst xmlns:a="http://schemas.openxmlformats.org/drawingml/2006/main">
              <a:ext uri="{FF2B5EF4-FFF2-40B4-BE49-F238E27FC236}">
                <a16:creationId xmlns:a16="http://schemas.microsoft.com/office/drawing/2014/main" id="{88A8F639-586F-4BDA-9B56-06F86ED1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5088" y="5400675"/>
            <a:ext cx="2879217" cy="3467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DD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9889A-E524-43B3-8B5D-B181BB39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86400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84D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4D3A"/>
                </a:solidFill>
                <a:latin typeface="Aptos"/>
                <a:ea typeface="Aptos"/>
                <a:cs typeface="Aptos"/>
              </a:rPr>
              <a:t>DO NOT CALL IT: PRODUCTION READY</a:t>
            </a:r>
          </a:p>
        </p:txBody>
      </p:sp>
      <p:sp>
        <p:nvSpPr>
          <p:cNvPr id="9" name="pill-keep-sandbox-only">
            <a:extLst xmlns:a="http://schemas.openxmlformats.org/drawingml/2006/main">
              <a:ext uri="{FF2B5EF4-FFF2-40B4-BE49-F238E27FC236}">
                <a16:creationId xmlns:a16="http://schemas.microsoft.com/office/drawing/2014/main" id="{EE6998A7-D990-45AE-97A5-6181964D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5088" y="5956935"/>
            <a:ext cx="1813369" cy="5410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CE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96837-E35E-4EB7-BC25-348D004B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038850"/>
            <a:ext cx="1466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8A1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8A12"/>
                </a:solidFill>
                <a:latin typeface="Aptos"/>
                <a:ea typeface="Aptos"/>
                <a:cs typeface="Aptos"/>
              </a:rPr>
              <a:t>KEEP: SANDBOX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150F7-6576-4C77-B092-5C97786E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67056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5"/>
          </a:solidFill>
          <a:ln xmlns:a="http://schemas.openxmlformats.org/drawingml/2006/main" w="0">
            <a:solidFill>
              <a:srgbClr val="CAD2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DB34A-2231-4C0D-B2C3-F6EB022B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69342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Next checkpoint: billing and runtime review between May 11 and May 13, 2026.</a:t>
            </a:r>
          </a:p>
        </p:txBody>
      </p:sp>
    </p:spTree>
    <p:extLst>
      <p:ext uri="{BB962C8B-B14F-4D97-AF65-F5344CB8AC3E}">
        <p14:creationId xmlns:p14="http://schemas.microsoft.com/office/powerpoint/2010/main" val="1113877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2026-05-10T07:51:21.6170000Z</dcterms:created>
  <dcterms:modified xsi:type="dcterms:W3CDTF">2026-05-10T07:51:21.6170000Z</dcterms:modified>
</coreProperties>
</file>